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AI-Powered Career Guidance Tool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Sathvika Muthyala</a:t>
            </a:r>
          </a:p>
          <a:p>
            <a:pPr/>
            <a:r>
              <a:t>U01912787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pPr/>
            <a:r>
              <a:t>Brief Overview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57200" y="1556462"/>
            <a:ext cx="8229601" cy="4525963"/>
          </a:xfrm>
          <a:prstGeom prst="rect">
            <a:avLst/>
          </a:prstGeom>
        </p:spPr>
        <p:txBody>
          <a:bodyPr/>
          <a:lstStyle/>
          <a:p>
            <a:pPr marL="0" indent="0" defTabSz="411479">
              <a:spcBef>
                <a:spcPts val="1000"/>
              </a:spcBef>
              <a:buSzTx/>
              <a:buNone/>
              <a:defRPr sz="1500"/>
            </a:pPr>
            <a:r>
              <a:t>This project is an </a:t>
            </a:r>
            <a:r>
              <a:rPr b="1"/>
              <a:t>AI-powered career guidance system</a:t>
            </a:r>
            <a:r>
              <a:t> designed to help users make informed career decisions using </a:t>
            </a:r>
            <a:r>
              <a:rPr b="1"/>
              <a:t>machine learning, NLP, and AI-driven insights</a:t>
            </a:r>
            <a:r>
              <a:t>. It provides:</a:t>
            </a:r>
          </a:p>
          <a:p>
            <a:pPr marL="411479" indent="-285750" defTabSz="411479">
              <a:spcBef>
                <a:spcPts val="0"/>
              </a:spcBef>
              <a:buFont typeface="Times Roman"/>
              <a:defRPr b="1" sz="1500"/>
            </a:pPr>
            <a:r>
              <a:t>Skill-Job Matching</a:t>
            </a:r>
            <a:r>
              <a:rPr b="0"/>
              <a:t> – Analyzes user skills and compares them with job role requirements using NLP.</a:t>
            </a:r>
          </a:p>
          <a:p>
            <a:pPr marL="411479" indent="-285750" defTabSz="411479">
              <a:spcBef>
                <a:spcPts val="0"/>
              </a:spcBef>
              <a:buFont typeface="Times Roman"/>
              <a:defRPr b="1" sz="1500"/>
            </a:pPr>
            <a:r>
              <a:t>AI Chatbot for Career Advice</a:t>
            </a:r>
            <a:r>
              <a:rPr b="0"/>
              <a:t> – A conversational assistant powered by Hugging Face API to answer career-related queries.</a:t>
            </a:r>
          </a:p>
          <a:p>
            <a:pPr marL="411479" indent="-285750" defTabSz="411479">
              <a:spcBef>
                <a:spcPts val="0"/>
              </a:spcBef>
              <a:buFont typeface="Times Roman"/>
              <a:defRPr b="1" sz="1500"/>
            </a:pPr>
            <a:r>
              <a:t>Salary Estimation</a:t>
            </a:r>
            <a:r>
              <a:rPr b="0"/>
              <a:t> – Predicts expected salary based on skills, experience, and job market trends.</a:t>
            </a:r>
          </a:p>
          <a:p>
            <a:pPr marL="411479" indent="-285750" defTabSz="411479">
              <a:spcBef>
                <a:spcPts val="0"/>
              </a:spcBef>
              <a:buFont typeface="Times Roman"/>
              <a:defRPr b="1" sz="1500"/>
            </a:pPr>
            <a:r>
              <a:t>Skill Gap Analysis</a:t>
            </a:r>
            <a:r>
              <a:rPr b="0"/>
              <a:t> – Identifies missing skills and provides personalized learning recommendations.</a:t>
            </a:r>
          </a:p>
          <a:p>
            <a:pPr marL="411479" indent="-285750" defTabSz="411479">
              <a:spcBef>
                <a:spcPts val="0"/>
              </a:spcBef>
              <a:buFont typeface="Times Roman"/>
              <a:defRPr b="1" sz="1500"/>
            </a:pPr>
            <a:r>
              <a:t>Company-Specific Skill Recommendations</a:t>
            </a:r>
            <a:r>
              <a:rPr b="0"/>
              <a:t> – Lists the most relevant skills required for specific companies and job roles.</a:t>
            </a:r>
          </a:p>
          <a:p>
            <a:pPr marL="411479" indent="-285750" defTabSz="411479">
              <a:spcBef>
                <a:spcPts val="0"/>
              </a:spcBef>
              <a:buFont typeface="Times Roman"/>
              <a:defRPr b="1" sz="1500"/>
            </a:pPr>
            <a:r>
              <a:t>Job Market Trends</a:t>
            </a:r>
            <a:r>
              <a:rPr b="0"/>
              <a:t> – Tracks in-demand skills, job postings over time, and geographic job distribution using data visualization.</a:t>
            </a:r>
          </a:p>
          <a:p>
            <a:pPr marL="411479" indent="-285750" defTabSz="411479">
              <a:spcBef>
                <a:spcPts val="0"/>
              </a:spcBef>
              <a:buFont typeface="Times Roman"/>
              <a:defRPr b="1" sz="1500"/>
            </a:pPr>
            <a:r>
              <a:t>Skill Progress Tracker</a:t>
            </a:r>
            <a:r>
              <a:rPr b="0"/>
              <a:t> – Allows users to monitor their progress in acquiring necessary skills for a specific job role.</a:t>
            </a:r>
          </a:p>
          <a:p>
            <a:pPr marL="411479" indent="-285750" defTabSz="411479">
              <a:spcBef>
                <a:spcPts val="0"/>
              </a:spcBef>
              <a:buFont typeface="Times Roman"/>
              <a:defRPr b="1" sz="1500"/>
            </a:pPr>
            <a:r>
              <a:t>Job Alerts Subscription</a:t>
            </a:r>
            <a:r>
              <a:rPr b="0"/>
              <a:t> – Users can subscribe to get real-time job alerts and updates on industry trends.</a:t>
            </a:r>
          </a:p>
          <a:p>
            <a:pPr marL="0" indent="0" defTabSz="411479">
              <a:spcBef>
                <a:spcPts val="1000"/>
              </a:spcBef>
              <a:buSzTx/>
              <a:buNone/>
              <a:defRPr sz="1500"/>
            </a:pPr>
            <a:r>
              <a:t>The system leverages </a:t>
            </a:r>
            <a:r>
              <a:rPr b="1"/>
              <a:t>TF-IDF, cosine similarity, spaCy NLP, machine learning models, and data visualization tools</a:t>
            </a:r>
            <a:r>
              <a:t> to generate accurate and data-driven career recommendations.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pPr/>
            <a:r>
              <a:t>Data Sources</a:t>
            </a:r>
          </a:p>
        </p:txBody>
      </p:sp>
      <p:sp>
        <p:nvSpPr>
          <p:cNvPr id="10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253745" indent="-253745" defTabSz="338326">
              <a:spcBef>
                <a:spcPts val="500"/>
              </a:spcBef>
              <a:defRPr sz="2300"/>
            </a:pPr>
            <a:r>
              <a:t>The project uses a job listings dataset originally sourced from Kaggle. However, the dataset was insufficient, so additional data was gathered through research and manual data collection.</a:t>
            </a:r>
          </a:p>
          <a:p>
            <a:pPr marL="253745" indent="-253745" defTabSz="338326">
              <a:spcBef>
                <a:spcPts val="500"/>
              </a:spcBef>
              <a:defRPr sz="2300"/>
            </a:pPr>
          </a:p>
          <a:p>
            <a:pPr marL="253745" indent="-253745" defTabSz="338326">
              <a:spcBef>
                <a:spcPts val="500"/>
              </a:spcBef>
              <a:defRPr sz="2300"/>
            </a:pPr>
            <a:r>
              <a:t>Challenges faced:</a:t>
            </a:r>
          </a:p>
          <a:p>
            <a:pPr marL="253745" indent="-253745" defTabSz="338326">
              <a:spcBef>
                <a:spcPts val="500"/>
              </a:spcBef>
              <a:defRPr sz="2300"/>
            </a:pPr>
            <a:r>
              <a:t>- LinkedIn web scraping was restricted due to security limitations</a:t>
            </a:r>
          </a:p>
          <a:p>
            <a:pPr marL="253745" indent="-253745" defTabSz="338326">
              <a:spcBef>
                <a:spcPts val="500"/>
              </a:spcBef>
              <a:defRPr sz="2300"/>
            </a:pPr>
            <a:r>
              <a:t>- Alternative sources like company career pages and job boards were used to enrich the dataset</a:t>
            </a:r>
          </a:p>
          <a:p>
            <a:pPr marL="253745" indent="-253745" defTabSz="338326">
              <a:spcBef>
                <a:spcPts val="500"/>
              </a:spcBef>
              <a:defRPr sz="2300"/>
            </a:pPr>
            <a:r>
              <a:t>- The final dataset includes job roles, required skills, salaries, locations, and company-specific requirements.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ch Stac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cap="all" sz="4000"/>
            </a:lvl1pPr>
          </a:lstStyle>
          <a:p>
            <a:pPr/>
            <a:r>
              <a:t>Tech Stack</a:t>
            </a:r>
          </a:p>
        </p:txBody>
      </p:sp>
      <p:sp>
        <p:nvSpPr>
          <p:cNvPr id="104" name="Frontend &amp; Dashboard: Streamlit…"/>
          <p:cNvSpPr txBox="1"/>
          <p:nvPr>
            <p:ph type="body" idx="1"/>
          </p:nvPr>
        </p:nvSpPr>
        <p:spPr>
          <a:xfrm>
            <a:off x="457200" y="1166018"/>
            <a:ext cx="8229600" cy="4525964"/>
          </a:xfrm>
          <a:prstGeom prst="rect">
            <a:avLst/>
          </a:prstGeom>
        </p:spPr>
        <p:txBody>
          <a:bodyPr/>
          <a:lstStyle/>
          <a:p>
            <a:pPr marL="240631" indent="-240631">
              <a:spcBef>
                <a:spcPts val="500"/>
              </a:spcBef>
              <a:buFontTx/>
              <a:defRPr b="1"/>
            </a:pPr>
            <a:r>
              <a:t>Frontend &amp; Dashboard:</a:t>
            </a:r>
            <a:r>
              <a:rPr b="0"/>
              <a:t> Streamlit</a:t>
            </a:r>
            <a:endParaRPr b="0"/>
          </a:p>
          <a:p>
            <a:pPr marL="240631" indent="-240631">
              <a:spcBef>
                <a:spcPts val="500"/>
              </a:spcBef>
              <a:buFontTx/>
              <a:defRPr b="1"/>
            </a:pPr>
            <a:r>
              <a:t>NLP: </a:t>
            </a:r>
            <a:r>
              <a:rPr b="0"/>
              <a:t>spaCy, NLTK, Hugging Face Transformers</a:t>
            </a:r>
            <a:endParaRPr b="0"/>
          </a:p>
          <a:p>
            <a:pPr marL="240631" indent="-240631">
              <a:spcBef>
                <a:spcPts val="500"/>
              </a:spcBef>
              <a:buFontTx/>
              <a:defRPr b="1"/>
            </a:pPr>
            <a:r>
              <a:t>Visualization: </a:t>
            </a:r>
            <a:r>
              <a:rPr b="0"/>
              <a:t>Plotly, Seaborn, Matplotlib</a:t>
            </a:r>
            <a:endParaRPr b="0"/>
          </a:p>
          <a:p>
            <a:pPr marL="240631" indent="-240631">
              <a:spcBef>
                <a:spcPts val="500"/>
              </a:spcBef>
              <a:buFontTx/>
              <a:defRPr b="1"/>
            </a:pPr>
            <a:r>
              <a:t>Data Handling: </a:t>
            </a:r>
            <a:r>
              <a:rPr b="0"/>
              <a:t>Pandas</a:t>
            </a:r>
            <a:endParaRPr b="0"/>
          </a:p>
          <a:p>
            <a:pPr marL="240631" indent="-240631">
              <a:spcBef>
                <a:spcPts val="500"/>
              </a:spcBef>
              <a:buFontTx/>
              <a:defRPr b="1"/>
            </a:pPr>
            <a:r>
              <a:t>ML Integration: </a:t>
            </a:r>
            <a:r>
              <a:rPr b="0"/>
              <a:t>TF-IDF, Cosine Similarity</a:t>
            </a:r>
            <a:endParaRPr b="0"/>
          </a:p>
          <a:p>
            <a:pPr marL="240631" indent="-240631">
              <a:spcBef>
                <a:spcPts val="500"/>
              </a:spcBef>
              <a:buFontTx/>
              <a:defRPr b="1"/>
            </a:pPr>
            <a:r>
              <a:t>Environment: </a:t>
            </a:r>
            <a:r>
              <a:rPr b="0"/>
              <a:t>Python, .env, Hugging Face API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pPr/>
            <a:r>
              <a:t>Exploratory Data Analysis (EDA)</a:t>
            </a:r>
          </a:p>
        </p:txBody>
      </p:sp>
      <p:sp>
        <p:nvSpPr>
          <p:cNvPr id="107" name="Content Placeholder 2"/>
          <p:cNvSpPr txBox="1"/>
          <p:nvPr>
            <p:ph type="body" idx="1"/>
          </p:nvPr>
        </p:nvSpPr>
        <p:spPr>
          <a:xfrm>
            <a:off x="457200" y="1337772"/>
            <a:ext cx="8229600" cy="4525964"/>
          </a:xfrm>
          <a:prstGeom prst="rect">
            <a:avLst/>
          </a:prstGeom>
        </p:spPr>
        <p:txBody>
          <a:bodyPr/>
          <a:lstStyle/>
          <a:p>
            <a:pPr marL="198881" indent="-198881" defTabSz="265175">
              <a:spcBef>
                <a:spcPts val="400"/>
              </a:spcBef>
              <a:defRPr b="1" sz="1856"/>
            </a:pPr>
            <a:r>
              <a:t>Data overview</a:t>
            </a:r>
          </a:p>
          <a:p>
            <a:pPr marL="265175" indent="-184150" defTabSz="265175">
              <a:spcBef>
                <a:spcPts val="600"/>
              </a:spcBef>
              <a:buFont typeface="Times Roman"/>
              <a:defRPr sz="1508"/>
            </a:pPr>
            <a:r>
              <a:t>Rows: n jobs</a:t>
            </a:r>
          </a:p>
          <a:p>
            <a:pPr marL="280521" indent="-199495" defTabSz="265175">
              <a:spcBef>
                <a:spcPts val="600"/>
              </a:spcBef>
              <a:buFont typeface="Times Roman"/>
              <a:defRPr sz="1508"/>
            </a:pPr>
            <a:r>
              <a:t>Key Columns: Job_Title, Required_Skills, Total_Compensation, Company, Posting_Date, Location</a:t>
            </a:r>
          </a:p>
          <a:p>
            <a:pPr marL="0" indent="0" defTabSz="265175">
              <a:spcBef>
                <a:spcPts val="600"/>
              </a:spcBef>
              <a:buSzTx/>
              <a:buFontTx/>
              <a:buNone/>
              <a:defRPr b="1" sz="1508"/>
            </a:pPr>
            <a:r>
              <a:t>Key Insights:</a:t>
            </a:r>
            <a:endParaRPr b="0"/>
          </a:p>
          <a:p>
            <a:pPr marL="265175" indent="-184150" defTabSz="265175">
              <a:spcBef>
                <a:spcPts val="600"/>
              </a:spcBef>
              <a:buFont typeface="Times Roman"/>
              <a:defRPr sz="1508"/>
            </a:pPr>
            <a:r>
              <a:t>No major missing data in key fields</a:t>
            </a:r>
          </a:p>
          <a:p>
            <a:pPr marL="265175" indent="-184150" defTabSz="265175">
              <a:spcBef>
                <a:spcPts val="600"/>
              </a:spcBef>
              <a:buFont typeface="Times Roman"/>
              <a:defRPr sz="1508"/>
            </a:pPr>
            <a:r>
              <a:t>Most demanded job roles: </a:t>
            </a:r>
            <a:r>
              <a:rPr b="1"/>
              <a:t>Data Scientist, Software Engineer</a:t>
            </a:r>
            <a:r>
              <a:t>, etc.</a:t>
            </a:r>
          </a:p>
          <a:p>
            <a:pPr marL="265175" indent="-184150" defTabSz="265175">
              <a:spcBef>
                <a:spcPts val="600"/>
              </a:spcBef>
              <a:buFont typeface="Times Roman"/>
              <a:defRPr sz="1508"/>
            </a:pPr>
            <a:r>
              <a:t>Highest average compensation for </a:t>
            </a:r>
            <a:r>
              <a:rPr b="1"/>
              <a:t>Machine Learning Engineer</a:t>
            </a:r>
            <a:endParaRPr b="1"/>
          </a:p>
          <a:p>
            <a:pPr marL="265175" indent="-184150" defTabSz="265175">
              <a:spcBef>
                <a:spcPts val="600"/>
              </a:spcBef>
              <a:buFont typeface="Times Roman"/>
              <a:defRPr sz="1508"/>
            </a:pPr>
            <a:r>
              <a:t>Job postings peaked in certain months, indicating seasonal hiring trends</a:t>
            </a:r>
          </a:p>
          <a:p>
            <a:pPr marL="265175" indent="-184150" defTabSz="265175">
              <a:spcBef>
                <a:spcPts val="600"/>
              </a:spcBef>
              <a:buFont typeface="Times Roman"/>
              <a:defRPr sz="1508"/>
            </a:pPr>
            <a:r>
              <a:t>Most jobs located in </a:t>
            </a:r>
            <a:r>
              <a:rPr b="1"/>
              <a:t>San Francisco, New York,</a:t>
            </a:r>
            <a:r>
              <a:t> and </a:t>
            </a:r>
            <a:r>
              <a:rPr b="1"/>
              <a:t>Seattle</a:t>
            </a:r>
            <a:endParaRPr b="1"/>
          </a:p>
          <a:p>
            <a:pPr marL="0" indent="0" defTabSz="265175">
              <a:spcBef>
                <a:spcPts val="600"/>
              </a:spcBef>
              <a:buSzTx/>
              <a:buFontTx/>
              <a:buNone/>
              <a:defRPr b="1" sz="1508"/>
            </a:pPr>
            <a:r>
              <a:t>Visuals:</a:t>
            </a:r>
          </a:p>
          <a:p>
            <a:pPr marL="265175" indent="-184150" defTabSz="265175">
              <a:spcBef>
                <a:spcPts val="600"/>
              </a:spcBef>
              <a:buFont typeface="Times Roman"/>
              <a:defRPr sz="1508"/>
            </a:pPr>
            <a:r>
              <a:t>Salary Distribution Box Plot</a:t>
            </a:r>
          </a:p>
          <a:p>
            <a:pPr marL="265175" indent="-184150" defTabSz="265175">
              <a:spcBef>
                <a:spcPts val="600"/>
              </a:spcBef>
              <a:buFont typeface="Times Roman"/>
              <a:defRPr sz="1508"/>
            </a:pPr>
            <a:r>
              <a:t>Job Trends Line Graph</a:t>
            </a:r>
          </a:p>
          <a:p>
            <a:pPr marL="265175" indent="-184150" defTabSz="265175">
              <a:spcBef>
                <a:spcPts val="600"/>
              </a:spcBef>
              <a:buFont typeface="Times Roman"/>
              <a:defRPr sz="1508"/>
            </a:pPr>
            <a:r>
              <a:t>Skills in Demand Bar Chart</a:t>
            </a:r>
          </a:p>
          <a:p>
            <a:pPr marL="265175" indent="-184150" defTabSz="265175">
              <a:spcBef>
                <a:spcPts val="600"/>
              </a:spcBef>
              <a:buFont typeface="Times Roman"/>
              <a:defRPr sz="1508"/>
            </a:pPr>
            <a:r>
              <a:t>Heatmap of Missing Values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kill Gap Analysis Flow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cap="all" sz="4000"/>
            </a:lvl1pPr>
          </a:lstStyle>
          <a:p>
            <a:pPr/>
            <a:r>
              <a:t>Skill Gap Analysis Flow</a:t>
            </a:r>
          </a:p>
        </p:txBody>
      </p:sp>
      <p:sp>
        <p:nvSpPr>
          <p:cNvPr id="110" name="User inputs current skill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SzTx/>
              <a:buFontTx/>
              <a:buNone/>
              <a:defRPr sz="2300"/>
            </a:pPr>
            <a:r>
              <a:t>User inputs current skills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2300"/>
            </a:pPr>
            <a:r>
              <a:t>System calculates </a:t>
            </a:r>
            <a:r>
              <a:rPr b="1"/>
              <a:t>Cosine Similarity</a:t>
            </a:r>
            <a:r>
              <a:t> with job role skills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2300"/>
            </a:pPr>
            <a:r>
              <a:t>Displays:</a:t>
            </a:r>
          </a:p>
          <a:p>
            <a:pPr marL="457200" indent="-317500">
              <a:spcBef>
                <a:spcPts val="1200"/>
              </a:spcBef>
              <a:buFont typeface="Times Roman"/>
              <a:defRPr sz="2300"/>
            </a:pPr>
            <a:r>
              <a:t>Match Score</a:t>
            </a:r>
          </a:p>
          <a:p>
            <a:pPr marL="457200" indent="-317500">
              <a:spcBef>
                <a:spcPts val="1200"/>
              </a:spcBef>
              <a:buFont typeface="Times Roman"/>
              <a:defRPr sz="2300"/>
            </a:pPr>
            <a:r>
              <a:t>Missing Skills</a:t>
            </a:r>
          </a:p>
          <a:p>
            <a:pPr marL="457200" indent="-317500">
              <a:spcBef>
                <a:spcPts val="1200"/>
              </a:spcBef>
              <a:buFont typeface="Times Roman"/>
              <a:defRPr sz="2300"/>
            </a:pPr>
            <a:r>
              <a:t>Recommended Resources</a:t>
            </a:r>
          </a:p>
          <a:p>
            <a:pPr marL="457200" indent="-317500">
              <a:spcBef>
                <a:spcPts val="1200"/>
              </a:spcBef>
              <a:buFont typeface="Times Roman"/>
              <a:defRPr sz="2300"/>
            </a:pPr>
            <a:r>
              <a:t>Predicted Salary</a:t>
            </a:r>
          </a:p>
          <a:p>
            <a:pPr marL="457200" indent="-317500">
              <a:spcBef>
                <a:spcPts val="1200"/>
              </a:spcBef>
              <a:buFont typeface="Times Roman"/>
              <a:defRPr sz="2300"/>
            </a:pPr>
            <a:r>
              <a:t>Company-specific skills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AI Chatbot Integr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cap="all" sz="4000"/>
            </a:lvl1pPr>
          </a:lstStyle>
          <a:p>
            <a:pPr/>
            <a:r>
              <a:t>AI Chatbot Integration</a:t>
            </a:r>
          </a:p>
        </p:txBody>
      </p:sp>
      <p:sp>
        <p:nvSpPr>
          <p:cNvPr id="113" name="Built using Hugging Face Inference API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40368" indent="-140368">
              <a:spcBef>
                <a:spcPts val="300"/>
              </a:spcBef>
              <a:buFontTx/>
              <a:defRPr sz="3000"/>
            </a:pPr>
            <a:r>
              <a:t>Built using Hugging Face Inference API</a:t>
            </a:r>
          </a:p>
          <a:p>
            <a:pPr marL="140368" indent="-140368">
              <a:spcBef>
                <a:spcPts val="300"/>
              </a:spcBef>
              <a:buFontTx/>
              <a:defRPr sz="3000"/>
            </a:pPr>
            <a:r>
              <a:t>Allows natural language questions</a:t>
            </a:r>
          </a:p>
          <a:p>
            <a:pPr marL="140368" indent="-140368">
              <a:spcBef>
                <a:spcPts val="300"/>
              </a:spcBef>
              <a:buFontTx/>
              <a:defRPr sz="3000"/>
            </a:pPr>
            <a:r>
              <a:t>Example:</a:t>
            </a:r>
            <a:br/>
            <a:r>
              <a:t>“What skills are required for an ML Engineer at Google?”</a:t>
            </a:r>
            <a:br/>
            <a:r>
              <a:t>→ Real-time AI answer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User Progress Track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cap="all" sz="4000"/>
            </a:lvl1pPr>
          </a:lstStyle>
          <a:p>
            <a:pPr/>
            <a:r>
              <a:t>User Progress Tracker</a:t>
            </a:r>
          </a:p>
        </p:txBody>
      </p:sp>
      <p:sp>
        <p:nvSpPr>
          <p:cNvPr id="116" name="Users can mark skills as In Progress or Completed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40631" indent="-240631">
              <a:spcBef>
                <a:spcPts val="500"/>
              </a:spcBef>
              <a:buFontTx/>
              <a:defRPr sz="2900"/>
            </a:pPr>
            <a:r>
              <a:t>Users can mark skills as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In Progress</a:t>
            </a:r>
            <a:r>
              <a:t> or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Completed</a:t>
            </a:r>
          </a:p>
          <a:p>
            <a:pPr marL="240631" indent="-240631">
              <a:spcBef>
                <a:spcPts val="500"/>
              </a:spcBef>
              <a:buFontTx/>
              <a:defRPr sz="2900"/>
            </a:pPr>
            <a:r>
              <a:t>Visual skill completion bar</a:t>
            </a:r>
          </a:p>
          <a:p>
            <a:pPr marL="240631" indent="-240631">
              <a:spcBef>
                <a:spcPts val="500"/>
              </a:spcBef>
              <a:buFontTx/>
              <a:defRPr sz="2900"/>
            </a:pPr>
            <a:r>
              <a:t>Personalized progress feedback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Future Enhancem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cap="all" sz="4000"/>
            </a:lvl1pPr>
          </a:lstStyle>
          <a:p>
            <a:pPr/>
            <a:r>
              <a:t>Future Enhancements</a:t>
            </a:r>
          </a:p>
        </p:txBody>
      </p:sp>
      <p:sp>
        <p:nvSpPr>
          <p:cNvPr id="119" name="Resume parsing and personalized feedback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40631" indent="-240631">
              <a:spcBef>
                <a:spcPts val="500"/>
              </a:spcBef>
              <a:buFontTx/>
              <a:defRPr sz="3300"/>
            </a:pPr>
            <a:r>
              <a:t>Resume parsing and personalized feedback</a:t>
            </a:r>
          </a:p>
          <a:p>
            <a:pPr marL="240631" indent="-240631">
              <a:spcBef>
                <a:spcPts val="500"/>
              </a:spcBef>
              <a:buFontTx/>
              <a:defRPr sz="3300"/>
            </a:pPr>
            <a:r>
              <a:t>Real-time job API integration</a:t>
            </a:r>
          </a:p>
          <a:p>
            <a:pPr marL="240631" indent="-240631">
              <a:spcBef>
                <a:spcPts val="500"/>
              </a:spcBef>
              <a:buFontTx/>
              <a:defRPr sz="3300"/>
            </a:pPr>
            <a:r>
              <a:t>Skill-building roadmaps with timelines</a:t>
            </a:r>
          </a:p>
          <a:p>
            <a:pPr marL="240631" indent="-240631">
              <a:spcBef>
                <a:spcPts val="500"/>
              </a:spcBef>
              <a:buFontTx/>
              <a:defRPr sz="3300"/>
            </a:pPr>
            <a:r>
              <a:t>Recommendation engine for job switching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ool Images For Referen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Tool Images For Reference</a:t>
            </a:r>
          </a:p>
        </p:txBody>
      </p:sp>
      <p:sp>
        <p:nvSpPr>
          <p:cNvPr id="122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23" name="Screenshot 2025-04-29 at 8.19.16 PM.png" descr="Screenshot 2025-04-29 at 8.19.16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7052" y="1312677"/>
            <a:ext cx="8549896" cy="48682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26" name="Screenshot 2025-04-29 at 8.19.32 PM.png" descr="Screenshot 2025-04-29 at 8.19.32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251048"/>
            <a:ext cx="8229601" cy="46914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29" name="Screenshot 2025-04-29 at 8.19.47 PM.png" descr="Screenshot 2025-04-29 at 8.19.4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3589" y="1404163"/>
            <a:ext cx="8616822" cy="49180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32" name="Screenshot 2025-04-29 at 8.20.03 PM.png" descr="Screenshot 2025-04-29 at 8.20.03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9183" y="1348822"/>
            <a:ext cx="8485634" cy="48316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35" name="Screenshot 2025-04-29 at 8.20.43 PM.png" descr="Screenshot 2025-04-29 at 8.20.43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223645"/>
            <a:ext cx="8229601" cy="47082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38" name="Screenshot 2025-04-29 at 8.20.54 PM.png" descr="Screenshot 2025-04-29 at 8.20.54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0578" y="1219443"/>
            <a:ext cx="8542844" cy="48807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Double-click to edi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1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42" name="Screenshot 2025-04-29 at 8.21.22 PM.png" descr="Screenshot 2025-04-29 at 8.21.22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2931" y="1306871"/>
            <a:ext cx="8138138" cy="46337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45" name="Screenshot 2025-04-29 at 8.21.41 PM.png" descr="Screenshot 2025-04-29 at 8.21.41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289410"/>
            <a:ext cx="8229601" cy="47026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48" name="Screenshot 2025-04-29 at 8.22.08 PM.png" descr="Screenshot 2025-04-29 at 8.22.08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199" y="1084488"/>
            <a:ext cx="8229601" cy="46890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51" name="Screenshot 2025-04-29 at 8.26.05 PM.png" descr="Screenshot 2025-04-29 at 8.26.0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9788" y="982766"/>
            <a:ext cx="8044424" cy="45968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hank You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nnai MN Regular"/>
                <a:ea typeface="Annai MN Regular"/>
                <a:cs typeface="Annai MN Regular"/>
                <a:sym typeface="Annai MN Regular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154" name="Double-click to edi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